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9" d="100"/>
          <a:sy n="49" d="100"/>
        </p:scale>
        <p:origin x="49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94650E-3D5C-4020-8A8F-5B1151332CFA}" type="datetimeFigureOut">
              <a:rPr lang="en-US" smtClean="0"/>
              <a:t>8/9/2023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1214378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94650E-3D5C-4020-8A8F-5B1151332CFA}" type="datetimeFigureOut">
              <a:rPr lang="en-US" smtClean="0"/>
              <a:t>8/9/2023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1104067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94650E-3D5C-4020-8A8F-5B1151332CFA}" type="datetimeFigureOut">
              <a:rPr lang="en-US" smtClean="0"/>
              <a:t>8/9/2023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3908596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94650E-3D5C-4020-8A8F-5B1151332CFA}" type="datetimeFigureOut">
              <a:rPr lang="en-US" smtClean="0"/>
              <a:t>8/9/2023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178870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94650E-3D5C-4020-8A8F-5B1151332CFA}" type="datetimeFigureOut">
              <a:rPr lang="en-US" smtClean="0"/>
              <a:t>8/9/2023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1799908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94650E-3D5C-4020-8A8F-5B1151332CFA}" type="datetimeFigureOut">
              <a:rPr lang="en-US" smtClean="0"/>
              <a:t>8/9/2023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482695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94650E-3D5C-4020-8A8F-5B1151332CFA}" type="datetimeFigureOut">
              <a:rPr lang="en-US" smtClean="0"/>
              <a:t>8/9/2023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2803729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94650E-3D5C-4020-8A8F-5B1151332CFA}" type="datetimeFigureOut">
              <a:rPr lang="en-US" smtClean="0"/>
              <a:t>8/9/2023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1787746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94650E-3D5C-4020-8A8F-5B1151332CFA}" type="datetimeFigureOut">
              <a:rPr lang="en-US" smtClean="0"/>
              <a:t>8/9/2023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476773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94650E-3D5C-4020-8A8F-5B1151332CFA}" type="datetimeFigureOut">
              <a:rPr lang="en-US" smtClean="0"/>
              <a:t>8/9/2023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3102102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94650E-3D5C-4020-8A8F-5B1151332CFA}" type="datetimeFigureOut">
              <a:rPr lang="en-US" smtClean="0"/>
              <a:t>8/9/2023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3A606-41B0-4228-BE4C-18E89D5D4336}" type="slidenum">
              <a:rPr lang="en-US" smtClean="0"/>
              <a:t>‹#›</a:t>
            </a:fld>
            <a:endParaRPr lang="en-US"/>
          </a:p>
        </p:txBody>
      </p:sp>
    </p:spTree>
    <p:extLst>
      <p:ext uri="{BB962C8B-B14F-4D97-AF65-F5344CB8AC3E}">
        <p14:creationId xmlns:p14="http://schemas.microsoft.com/office/powerpoint/2010/main" val="422611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4650E-3D5C-4020-8A8F-5B1151332CFA}" type="datetimeFigureOut">
              <a:rPr lang="en-US" smtClean="0"/>
              <a:t>8/9/2023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3A606-41B0-4228-BE4C-18E89D5D4336}" type="slidenum">
              <a:rPr lang="en-US" smtClean="0"/>
              <a:t>‹#›</a:t>
            </a:fld>
            <a:endParaRPr lang="en-US"/>
          </a:p>
        </p:txBody>
      </p:sp>
    </p:spTree>
    <p:extLst>
      <p:ext uri="{BB962C8B-B14F-4D97-AF65-F5344CB8AC3E}">
        <p14:creationId xmlns:p14="http://schemas.microsoft.com/office/powerpoint/2010/main" val="2432034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73666" y="2397489"/>
            <a:ext cx="9144000" cy="2387600"/>
          </a:xfrm>
        </p:spPr>
        <p:txBody>
          <a:bodyPr>
            <a:normAutofit/>
          </a:bodyPr>
          <a:lstStyle/>
          <a:p>
            <a:r>
              <a:rPr lang="en-US" b="1" i="1" dirty="0"/>
              <a:t>COVID-19 Vaccinations Trend </a:t>
            </a:r>
            <a:r>
              <a:rPr lang="en-US" b="1" i="1" dirty="0" smtClean="0"/>
              <a:t>Analysis</a:t>
            </a:r>
            <a:endParaRPr lang="en-US" b="1" i="1" dirty="0"/>
          </a:p>
        </p:txBody>
      </p:sp>
    </p:spTree>
    <p:extLst>
      <p:ext uri="{BB962C8B-B14F-4D97-AF65-F5344CB8AC3E}">
        <p14:creationId xmlns:p14="http://schemas.microsoft.com/office/powerpoint/2010/main" val="87284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b="1" dirty="0" smtClean="0"/>
              <a:t>AIM:</a:t>
            </a:r>
            <a:endParaRPr lang="en-US" b="1" dirty="0"/>
          </a:p>
        </p:txBody>
      </p:sp>
      <p:sp>
        <p:nvSpPr>
          <p:cNvPr id="3" name="Content Placeholder 2"/>
          <p:cNvSpPr>
            <a:spLocks noGrp="1"/>
          </p:cNvSpPr>
          <p:nvPr>
            <p:ph idx="1"/>
          </p:nvPr>
        </p:nvSpPr>
        <p:spPr>
          <a:xfrm>
            <a:off x="838200" y="1887523"/>
            <a:ext cx="10515600" cy="3246539"/>
          </a:xfrm>
        </p:spPr>
        <p:txBody>
          <a:bodyPr/>
          <a:lstStyle/>
          <a:p>
            <a:pPr>
              <a:buFont typeface="Wingdings" panose="05000000000000000000" pitchFamily="2" charset="2"/>
              <a:buChar char="Ø"/>
            </a:pPr>
            <a:r>
              <a:rPr lang="en-US" dirty="0" smtClean="0"/>
              <a:t>To analyze the </a:t>
            </a:r>
            <a:r>
              <a:rPr lang="en-US" dirty="0"/>
              <a:t>COVID-19 vaccinations trend analysis is to comprehensively examine and understand the patterns, progress, and impact of COVID-19 vaccination efforts over a specified time </a:t>
            </a:r>
            <a:r>
              <a:rPr lang="en-US" dirty="0" smtClean="0"/>
              <a:t>period.</a:t>
            </a:r>
          </a:p>
          <a:p>
            <a:pPr>
              <a:buFont typeface="Wingdings" panose="05000000000000000000" pitchFamily="2" charset="2"/>
              <a:buChar char="Ø"/>
            </a:pPr>
            <a:r>
              <a:rPr lang="en-US" dirty="0" smtClean="0"/>
              <a:t>This analysis seeks to provide valuable insights into the distribution, coverage, and effectiveness of COVID-19 vaccination campaigns to inform public health strategies, resource allocation, and policy decisions.</a:t>
            </a:r>
            <a:endParaRPr lang="en-US" dirty="0"/>
          </a:p>
        </p:txBody>
      </p:sp>
    </p:spTree>
    <p:extLst>
      <p:ext uri="{BB962C8B-B14F-4D97-AF65-F5344CB8AC3E}">
        <p14:creationId xmlns:p14="http://schemas.microsoft.com/office/powerpoint/2010/main" val="245130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43558"/>
          </a:xfrm>
        </p:spPr>
        <p:txBody>
          <a:bodyPr/>
          <a:lstStyle/>
          <a:p>
            <a:r>
              <a:rPr lang="en-US" b="1" dirty="0" smtClean="0"/>
              <a:t>Introduction:</a:t>
            </a:r>
            <a:endParaRPr lang="en-US" b="1" dirty="0"/>
          </a:p>
        </p:txBody>
      </p:sp>
      <p:sp>
        <p:nvSpPr>
          <p:cNvPr id="3" name="Content Placeholder 2"/>
          <p:cNvSpPr>
            <a:spLocks noGrp="1"/>
          </p:cNvSpPr>
          <p:nvPr>
            <p:ph idx="1"/>
          </p:nvPr>
        </p:nvSpPr>
        <p:spPr>
          <a:xfrm>
            <a:off x="838200" y="1308684"/>
            <a:ext cx="10515600" cy="4868279"/>
          </a:xfrm>
        </p:spPr>
        <p:txBody>
          <a:bodyPr/>
          <a:lstStyle/>
          <a:p>
            <a:pPr>
              <a:buFont typeface="Wingdings" panose="05000000000000000000" pitchFamily="2" charset="2"/>
              <a:buChar char="Ø"/>
            </a:pPr>
            <a:r>
              <a:rPr lang="en-US" dirty="0"/>
              <a:t>The global response to the COVID-19 pandemic has been marked by unprecedented efforts to develop and distribute vaccines to curb the spread of the virus and mitigate its impact on public health</a:t>
            </a:r>
            <a:r>
              <a:rPr lang="en-US" dirty="0" smtClean="0"/>
              <a:t>.</a:t>
            </a:r>
          </a:p>
          <a:p>
            <a:pPr>
              <a:buFont typeface="Wingdings" panose="05000000000000000000" pitchFamily="2" charset="2"/>
              <a:buChar char="Ø"/>
            </a:pPr>
            <a:r>
              <a:rPr lang="en-US" dirty="0" smtClean="0"/>
              <a:t> </a:t>
            </a:r>
            <a:r>
              <a:rPr lang="en-US" dirty="0"/>
              <a:t>As nations worldwide continue to administer COVID-19 vaccines, understanding the trends, patterns, and outcomes of these vaccination campaigns becomes crucial for informed decision-making and effective resource allocation. </a:t>
            </a:r>
            <a:endParaRPr lang="en-US" dirty="0" smtClean="0"/>
          </a:p>
          <a:p>
            <a:pPr>
              <a:buFont typeface="Wingdings" panose="05000000000000000000" pitchFamily="2" charset="2"/>
              <a:buChar char="Ø"/>
            </a:pPr>
            <a:r>
              <a:rPr lang="en-US" dirty="0" smtClean="0"/>
              <a:t>This </a:t>
            </a:r>
            <a:r>
              <a:rPr lang="en-US" dirty="0"/>
              <a:t>analysis aims to provide a comprehensive examination of the trends in COVID-19 vaccinations, shedding light on critical aspects of vaccine distribution, coverage, and impact.</a:t>
            </a:r>
          </a:p>
        </p:txBody>
      </p:sp>
    </p:spTree>
    <p:extLst>
      <p:ext uri="{BB962C8B-B14F-4D97-AF65-F5344CB8AC3E}">
        <p14:creationId xmlns:p14="http://schemas.microsoft.com/office/powerpoint/2010/main" val="352935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8725"/>
          </a:xfrm>
        </p:spPr>
        <p:txBody>
          <a:bodyPr/>
          <a:lstStyle/>
          <a:p>
            <a:r>
              <a:rPr lang="en-US" b="1" dirty="0"/>
              <a:t>Problem </a:t>
            </a:r>
            <a:r>
              <a:rPr lang="en-US" b="1" dirty="0" smtClean="0"/>
              <a:t>statement:</a:t>
            </a:r>
            <a:endParaRPr lang="en-US" b="1" dirty="0"/>
          </a:p>
        </p:txBody>
      </p:sp>
      <p:sp>
        <p:nvSpPr>
          <p:cNvPr id="3" name="Content Placeholder 2"/>
          <p:cNvSpPr>
            <a:spLocks noGrp="1"/>
          </p:cNvSpPr>
          <p:nvPr>
            <p:ph idx="1"/>
          </p:nvPr>
        </p:nvSpPr>
        <p:spPr>
          <a:xfrm>
            <a:off x="838200" y="1333850"/>
            <a:ext cx="10515600" cy="4843113"/>
          </a:xfrm>
        </p:spPr>
        <p:txBody>
          <a:bodyPr>
            <a:normAutofit fontScale="77500" lnSpcReduction="20000"/>
          </a:bodyPr>
          <a:lstStyle/>
          <a:p>
            <a:pPr>
              <a:buFont typeface="Wingdings" panose="05000000000000000000" pitchFamily="2" charset="2"/>
              <a:buChar char="Ø"/>
            </a:pPr>
            <a:r>
              <a:rPr lang="en-US" b="1" dirty="0"/>
              <a:t>Vaccination Disparities:</a:t>
            </a:r>
            <a:r>
              <a:rPr lang="en-US" dirty="0"/>
              <a:t> The uneven distribution of vaccines among different regions and demographic groups raises concerns about equitable access. This analysis seeks to identify disparities in vaccine coverage, focusing on vulnerable populations and underserved areas.</a:t>
            </a:r>
          </a:p>
          <a:p>
            <a:pPr>
              <a:buFont typeface="Wingdings" panose="05000000000000000000" pitchFamily="2" charset="2"/>
              <a:buChar char="Ø"/>
            </a:pPr>
            <a:r>
              <a:rPr lang="en-US" b="1" dirty="0"/>
              <a:t>Trend Dynamics:</a:t>
            </a:r>
            <a:r>
              <a:rPr lang="en-US" dirty="0"/>
              <a:t> Understanding the dynamic shifts in vaccination rates over time is essential for informed decision-making. This analysis aims to identify trends, accelerations, and decelerations in vaccination efforts and their potential drivers.</a:t>
            </a:r>
          </a:p>
          <a:p>
            <a:pPr>
              <a:buFont typeface="Wingdings" panose="05000000000000000000" pitchFamily="2" charset="2"/>
              <a:buChar char="Ø"/>
            </a:pPr>
            <a:r>
              <a:rPr lang="en-US" b="1" dirty="0"/>
              <a:t>Impact Assessment:</a:t>
            </a:r>
            <a:r>
              <a:rPr lang="en-US" dirty="0"/>
              <a:t> Determining the impact of vaccination campaigns on COVID-19 outcomes, such as case rates, hospitalizations, and mortality, is a critical challenge. This analysis aims to evaluate the correlation between vaccination rates and disease outcomes.</a:t>
            </a:r>
          </a:p>
          <a:p>
            <a:pPr>
              <a:buFont typeface="Wingdings" panose="05000000000000000000" pitchFamily="2" charset="2"/>
              <a:buChar char="Ø"/>
            </a:pPr>
            <a:r>
              <a:rPr lang="en-US" b="1" dirty="0"/>
              <a:t>Vaccine Preference:</a:t>
            </a:r>
            <a:r>
              <a:rPr lang="en-US" dirty="0"/>
              <a:t> Exploring the distribution of different vaccine types administered across regions or countries and their implications for overall vaccination rates is another challenge. This problem area aims to uncover vaccine preferences and their effects on the vaccination landscape.</a:t>
            </a:r>
          </a:p>
          <a:p>
            <a:pPr>
              <a:buFont typeface="Wingdings" panose="05000000000000000000" pitchFamily="2" charset="2"/>
              <a:buChar char="Ø"/>
            </a:pPr>
            <a:r>
              <a:rPr lang="en-US" b="1" dirty="0"/>
              <a:t>Predictive Insights:</a:t>
            </a:r>
            <a:r>
              <a:rPr lang="en-US" dirty="0"/>
              <a:t> Anticipating future vaccination rates and projecting the achievement of vaccination milestones requires predictive modeling. This problem area seeks to develop models that forecast vaccination trends based on historical data.</a:t>
            </a:r>
          </a:p>
          <a:p>
            <a:endParaRPr lang="en-US" dirty="0"/>
          </a:p>
        </p:txBody>
      </p:sp>
    </p:spTree>
    <p:extLst>
      <p:ext uri="{BB962C8B-B14F-4D97-AF65-F5344CB8AC3E}">
        <p14:creationId xmlns:p14="http://schemas.microsoft.com/office/powerpoint/2010/main" val="4034851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5109"/>
          </a:xfrm>
        </p:spPr>
        <p:txBody>
          <a:bodyPr>
            <a:normAutofit fontScale="90000"/>
          </a:bodyPr>
          <a:lstStyle/>
          <a:p>
            <a:r>
              <a:rPr lang="en-US" b="1" dirty="0" smtClean="0"/>
              <a:t>Methodology:</a:t>
            </a:r>
            <a:endParaRPr lang="en-US" b="1" dirty="0"/>
          </a:p>
        </p:txBody>
      </p:sp>
      <p:sp>
        <p:nvSpPr>
          <p:cNvPr id="3" name="Content Placeholder 2"/>
          <p:cNvSpPr>
            <a:spLocks noGrp="1"/>
          </p:cNvSpPr>
          <p:nvPr>
            <p:ph idx="1"/>
          </p:nvPr>
        </p:nvSpPr>
        <p:spPr>
          <a:xfrm>
            <a:off x="838200" y="1040235"/>
            <a:ext cx="10515600" cy="5136728"/>
          </a:xfrm>
        </p:spPr>
        <p:txBody>
          <a:bodyPr>
            <a:normAutofit lnSpcReduction="10000"/>
          </a:bodyPr>
          <a:lstStyle/>
          <a:p>
            <a:pPr>
              <a:buFont typeface="Wingdings" panose="05000000000000000000" pitchFamily="2" charset="2"/>
              <a:buChar char="Ø"/>
            </a:pPr>
            <a:r>
              <a:rPr lang="en-US" b="1" dirty="0"/>
              <a:t>Exploratory Data Analysis (EDA):</a:t>
            </a:r>
            <a:r>
              <a:rPr lang="en-US" dirty="0"/>
              <a:t> Conduct exploratory analysis to gain initial insights into the data. Create visualizations, such as line charts, bar graphs, and </a:t>
            </a:r>
            <a:r>
              <a:rPr lang="en-US" dirty="0" smtClean="0"/>
              <a:t>heat maps, </a:t>
            </a:r>
            <a:r>
              <a:rPr lang="en-US" dirty="0"/>
              <a:t>to visualize trends and patterns in vaccination rates over time, across regions, and among demographic groups.</a:t>
            </a:r>
          </a:p>
          <a:p>
            <a:pPr>
              <a:buFont typeface="Wingdings" panose="05000000000000000000" pitchFamily="2" charset="2"/>
              <a:buChar char="Ø"/>
            </a:pPr>
            <a:r>
              <a:rPr lang="en-US" b="1" dirty="0" smtClean="0"/>
              <a:t>Demographic </a:t>
            </a:r>
            <a:r>
              <a:rPr lang="en-US" b="1" dirty="0"/>
              <a:t>and Geographic Disparities Analysis:</a:t>
            </a:r>
            <a:r>
              <a:rPr lang="en-US" dirty="0"/>
              <a:t> Segment the data by demographics (age, gender, ethnicity) and geography (country, region, urban/rural). Analyze vaccination rates across different demographic groups and geographical areas to identify disparities and inequalities in vaccine coverage.</a:t>
            </a:r>
          </a:p>
          <a:p>
            <a:pPr>
              <a:buFont typeface="Wingdings" panose="05000000000000000000" pitchFamily="2" charset="2"/>
              <a:buChar char="Ø"/>
            </a:pPr>
            <a:r>
              <a:rPr lang="en-US" b="1" dirty="0"/>
              <a:t>Vaccine Type Distribution Analysis:</a:t>
            </a:r>
            <a:r>
              <a:rPr lang="en-US" dirty="0"/>
              <a:t> Examine the distribution of different COVID-19 vaccine types administered. Compare vaccination rates associated with different vaccines and explore any variations in preferences across regions or </a:t>
            </a:r>
            <a:r>
              <a:rPr lang="en-US" dirty="0" smtClean="0"/>
              <a:t>countries.</a:t>
            </a:r>
          </a:p>
          <a:p>
            <a:pPr marL="0" indent="0">
              <a:buNone/>
            </a:pPr>
            <a:endParaRPr lang="en-US" dirty="0"/>
          </a:p>
        </p:txBody>
      </p:sp>
    </p:spTree>
    <p:extLst>
      <p:ext uri="{BB962C8B-B14F-4D97-AF65-F5344CB8AC3E}">
        <p14:creationId xmlns:p14="http://schemas.microsoft.com/office/powerpoint/2010/main" val="2603292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7723"/>
          </a:xfrm>
        </p:spPr>
        <p:txBody>
          <a:bodyPr/>
          <a:lstStyle/>
          <a:p>
            <a:r>
              <a:rPr lang="en-US" b="1" dirty="0" smtClean="0"/>
              <a:t>Analysis:</a:t>
            </a:r>
            <a:endParaRPr lang="en-US" b="1" dirty="0"/>
          </a:p>
        </p:txBody>
      </p:sp>
      <p:sp>
        <p:nvSpPr>
          <p:cNvPr id="3" name="Content Placeholder 2"/>
          <p:cNvSpPr>
            <a:spLocks noGrp="1"/>
          </p:cNvSpPr>
          <p:nvPr>
            <p:ph idx="1"/>
          </p:nvPr>
        </p:nvSpPr>
        <p:spPr>
          <a:xfrm>
            <a:off x="838200" y="1182848"/>
            <a:ext cx="10515600" cy="4994115"/>
          </a:xfrm>
        </p:spPr>
        <p:txBody>
          <a:bodyPr>
            <a:normAutofit lnSpcReduction="10000"/>
          </a:bodyPr>
          <a:lstStyle/>
          <a:p>
            <a:pPr>
              <a:buFont typeface="Wingdings" panose="05000000000000000000" pitchFamily="2" charset="2"/>
              <a:buChar char="Ø"/>
            </a:pPr>
            <a:r>
              <a:rPr lang="en-US" b="1" i="1" u="sng" dirty="0" smtClean="0"/>
              <a:t>Line Chart:</a:t>
            </a:r>
            <a:r>
              <a:rPr lang="en-US" b="1" i="1" dirty="0" smtClean="0"/>
              <a:t> </a:t>
            </a:r>
            <a:r>
              <a:rPr lang="en-US" dirty="0" smtClean="0"/>
              <a:t>Power  BI  will automatically aggregate  the using sum on the people_fully_vaccanies on the years, creating</a:t>
            </a:r>
            <a:r>
              <a:rPr lang="en-US" i="1" dirty="0" smtClean="0"/>
              <a:t> a stacked column chart that shows the distribution of active users by country and region.</a:t>
            </a:r>
          </a:p>
          <a:p>
            <a:pPr>
              <a:buFont typeface="Wingdings" panose="05000000000000000000" pitchFamily="2" charset="2"/>
              <a:buChar char="Ø"/>
            </a:pPr>
            <a:r>
              <a:rPr lang="en-US" b="1" i="1" u="sng" dirty="0"/>
              <a:t>C</a:t>
            </a:r>
            <a:r>
              <a:rPr lang="en-US" b="1" i="1" u="sng" dirty="0" smtClean="0"/>
              <a:t>lustered Column Chart: </a:t>
            </a:r>
            <a:r>
              <a:rPr lang="en-US" dirty="0" smtClean="0"/>
              <a:t>Create </a:t>
            </a:r>
            <a:r>
              <a:rPr lang="en-US" dirty="0"/>
              <a:t>a new page in your report dedicated to the clustered column </a:t>
            </a:r>
            <a:r>
              <a:rPr lang="en-US" dirty="0" smtClean="0"/>
              <a:t>chart,</a:t>
            </a:r>
            <a:r>
              <a:rPr lang="en-US" dirty="0"/>
              <a:t> Place a clustered column chart on the page.</a:t>
            </a:r>
          </a:p>
          <a:p>
            <a:pPr>
              <a:buFont typeface="Wingdings" panose="05000000000000000000" pitchFamily="2" charset="2"/>
              <a:buChar char="Ø"/>
            </a:pPr>
            <a:r>
              <a:rPr lang="en-US" dirty="0"/>
              <a:t>Set the X-axis to represent time (date or week) and the Y-axis to represent the number of vaccinations</a:t>
            </a:r>
            <a:r>
              <a:rPr lang="en-US" dirty="0" smtClean="0"/>
              <a:t>.</a:t>
            </a:r>
          </a:p>
          <a:p>
            <a:pPr>
              <a:buFont typeface="Wingdings" panose="05000000000000000000" pitchFamily="2" charset="2"/>
              <a:buChar char="Ø"/>
            </a:pPr>
            <a:r>
              <a:rPr lang="en-US" b="1" i="1" u="sng" dirty="0" smtClean="0"/>
              <a:t>Line and Clustered Column Chart:</a:t>
            </a:r>
            <a:r>
              <a:rPr lang="en-US" b="1" i="1" dirty="0" smtClean="0"/>
              <a:t> </a:t>
            </a:r>
            <a:r>
              <a:rPr lang="en-US" dirty="0" smtClean="0"/>
              <a:t>Power  BI  will automatically aggregate  the using sum on the total vaccination on the years in vaccines, creating</a:t>
            </a:r>
            <a:r>
              <a:rPr lang="en-US" i="1" dirty="0" smtClean="0"/>
              <a:t> a stacked column chart that shows the distribution of active users by country and region.</a:t>
            </a:r>
          </a:p>
          <a:p>
            <a:pPr>
              <a:buFont typeface="Wingdings" panose="05000000000000000000" pitchFamily="2" charset="2"/>
              <a:buChar char="Ø"/>
            </a:pPr>
            <a:endParaRPr lang="en-US" dirty="0" smtClean="0"/>
          </a:p>
          <a:p>
            <a:pPr marL="0" indent="0">
              <a:buNone/>
            </a:pPr>
            <a:endParaRPr lang="en-US" dirty="0"/>
          </a:p>
        </p:txBody>
      </p:sp>
    </p:spTree>
    <p:extLst>
      <p:ext uri="{BB962C8B-B14F-4D97-AF65-F5344CB8AC3E}">
        <p14:creationId xmlns:p14="http://schemas.microsoft.com/office/powerpoint/2010/main" val="4128067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9600"/>
            <a:ext cx="10515600" cy="5508171"/>
          </a:xfrm>
        </p:spPr>
        <p:txBody>
          <a:bodyPr>
            <a:normAutofit lnSpcReduction="10000"/>
          </a:bodyPr>
          <a:lstStyle/>
          <a:p>
            <a:pPr>
              <a:buFont typeface="Wingdings" panose="05000000000000000000" pitchFamily="2" charset="2"/>
              <a:buChar char="Ø"/>
            </a:pPr>
            <a:r>
              <a:rPr lang="en-US" b="1" i="1" u="sng" dirty="0"/>
              <a:t>M</a:t>
            </a:r>
            <a:r>
              <a:rPr lang="en-US" b="1" i="1" u="sng" dirty="0" smtClean="0"/>
              <a:t>ulti- row card: </a:t>
            </a:r>
            <a:r>
              <a:rPr lang="en-US" dirty="0"/>
              <a:t>Develop a data model and establish relationships between relevant tables if </a:t>
            </a:r>
            <a:r>
              <a:rPr lang="en-US" dirty="0" smtClean="0"/>
              <a:t>necessary,</a:t>
            </a:r>
            <a:r>
              <a:rPr lang="en-US" dirty="0"/>
              <a:t> Create a new page in your </a:t>
            </a:r>
            <a:r>
              <a:rPr lang="en-US" dirty="0" smtClean="0"/>
              <a:t>report </a:t>
            </a:r>
            <a:r>
              <a:rPr lang="en-US" dirty="0"/>
              <a:t>dedicated to showcasing key metrics using multi-row cards</a:t>
            </a:r>
            <a:r>
              <a:rPr lang="en-US" dirty="0" smtClean="0"/>
              <a:t>.</a:t>
            </a:r>
            <a:r>
              <a:rPr lang="en-US" dirty="0"/>
              <a:t> Add multiple multi-row cards to the page, each representing a different key </a:t>
            </a:r>
            <a:r>
              <a:rPr lang="en-US" dirty="0" smtClean="0"/>
              <a:t>metric,</a:t>
            </a:r>
            <a:r>
              <a:rPr lang="en-US" dirty="0"/>
              <a:t> Include slicers for users to filter data by specific time frames (days, weeks, months) or demographic </a:t>
            </a:r>
            <a:r>
              <a:rPr lang="en-US" dirty="0" smtClean="0"/>
              <a:t>variables. Ensure </a:t>
            </a:r>
            <a:r>
              <a:rPr lang="en-US" dirty="0"/>
              <a:t>that the multi-row cards respond to slicer selections, providing contextualized information</a:t>
            </a:r>
            <a:r>
              <a:rPr lang="en-US" dirty="0" smtClean="0"/>
              <a:t>.</a:t>
            </a:r>
          </a:p>
          <a:p>
            <a:pPr>
              <a:buFont typeface="Wingdings" panose="05000000000000000000" pitchFamily="2" charset="2"/>
              <a:buChar char="Ø"/>
            </a:pPr>
            <a:r>
              <a:rPr lang="en-US" b="1" i="1" u="sng" dirty="0" smtClean="0"/>
              <a:t>Area chart and Slicing and card</a:t>
            </a:r>
            <a:r>
              <a:rPr lang="en-US" dirty="0" smtClean="0"/>
              <a:t>: </a:t>
            </a:r>
            <a:r>
              <a:rPr lang="en-US" dirty="0"/>
              <a:t>Add an area chart to the </a:t>
            </a:r>
            <a:r>
              <a:rPr lang="en-US" dirty="0" smtClean="0"/>
              <a:t>page, Place date or time on the X-axis and the number of vaccinations on the Y-axis , Use the area chart to visualize the trend of daily or cumulative vaccinations over time,</a:t>
            </a:r>
            <a:r>
              <a:rPr lang="en-US" dirty="0"/>
              <a:t> Add slicers to the page to enable users to filter data by specific time frames (days, weeks, </a:t>
            </a:r>
            <a:r>
              <a:rPr lang="en-US" dirty="0" smtClean="0"/>
              <a:t>months),The </a:t>
            </a:r>
            <a:r>
              <a:rPr lang="en-US" dirty="0"/>
              <a:t>selected time frame should dynamically update the area chart</a:t>
            </a:r>
            <a:r>
              <a:rPr lang="en-US" dirty="0" smtClean="0"/>
              <a:t>.</a:t>
            </a:r>
            <a:br>
              <a:rPr lang="en-US" dirty="0" smtClean="0"/>
            </a:br>
            <a:endParaRPr lang="en-US" b="1" i="1" dirty="0"/>
          </a:p>
        </p:txBody>
      </p:sp>
    </p:spTree>
    <p:extLst>
      <p:ext uri="{BB962C8B-B14F-4D97-AF65-F5344CB8AC3E}">
        <p14:creationId xmlns:p14="http://schemas.microsoft.com/office/powerpoint/2010/main" val="2153342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89883"/>
          </a:xfrm>
        </p:spPr>
        <p:txBody>
          <a:bodyPr>
            <a:normAutofit fontScale="90000"/>
          </a:bodyPr>
          <a:lstStyle/>
          <a:p>
            <a:r>
              <a:rPr lang="en-US" b="1" i="1" dirty="0" smtClean="0"/>
              <a:t>Insights:</a:t>
            </a:r>
            <a:endParaRPr lang="en-US" b="1" i="1" dirty="0"/>
          </a:p>
        </p:txBody>
      </p:sp>
      <p:sp>
        <p:nvSpPr>
          <p:cNvPr id="6" name="Title 1"/>
          <p:cNvSpPr txBox="1">
            <a:spLocks/>
          </p:cNvSpPr>
          <p:nvPr/>
        </p:nvSpPr>
        <p:spPr>
          <a:xfrm>
            <a:off x="5922628" y="3467182"/>
            <a:ext cx="5210615" cy="2733202"/>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smtClean="0"/>
              <a:t>Clustered Column </a:t>
            </a:r>
            <a:r>
              <a:rPr lang="en-US" sz="1600" b="1" u="sng" dirty="0"/>
              <a:t>C</a:t>
            </a:r>
            <a:r>
              <a:rPr lang="en-US" sz="1600" b="1" u="sng" dirty="0" smtClean="0"/>
              <a:t>hart:</a:t>
            </a:r>
            <a:r>
              <a:rPr lang="en-US" sz="1600" b="1" i="1" dirty="0" smtClean="0"/>
              <a:t> </a:t>
            </a:r>
            <a:r>
              <a:rPr lang="en-US" sz="1600" dirty="0" smtClean="0">
                <a:solidFill>
                  <a:srgbClr val="374151"/>
                </a:solidFill>
                <a:latin typeface="Söhne"/>
              </a:rPr>
              <a:t> </a:t>
            </a:r>
            <a:r>
              <a:rPr lang="en-US" sz="1800" dirty="0">
                <a:solidFill>
                  <a:srgbClr val="374151"/>
                </a:solidFill>
                <a:latin typeface="+mn-lt"/>
              </a:rPr>
              <a:t>you're using the vaccination metrics like "people_vaccinated</a:t>
            </a:r>
            <a:r>
              <a:rPr lang="en-US" sz="1800" dirty="0" smtClean="0">
                <a:solidFill>
                  <a:srgbClr val="374151"/>
                </a:solidFill>
                <a:latin typeface="+mn-lt"/>
              </a:rPr>
              <a:t>," "people_fully_vaccinated</a:t>
            </a:r>
            <a:r>
              <a:rPr lang="en-US" sz="1800" dirty="0">
                <a:solidFill>
                  <a:srgbClr val="374151"/>
                </a:solidFill>
                <a:latin typeface="+mn-lt"/>
              </a:rPr>
              <a:t>," "people_vaccinated_per_hundred," and "people_fully_vaccinated_per_hundred" on the y-axis and the year on the x-axis in a clustered column chart with the automatic sum function, here's how you can create the Clustered Column Chart in Power BI for your COVID-19 Vaccinations Trend Analysis</a:t>
            </a:r>
            <a:r>
              <a:rPr lang="en-US" sz="1800" dirty="0" smtClean="0">
                <a:latin typeface="+mn-lt"/>
              </a:rPr>
              <a:t> .</a:t>
            </a:r>
          </a:p>
          <a:p>
            <a:pPr marL="285750" indent="-285750">
              <a:buFont typeface="Wingdings" panose="05000000000000000000" pitchFamily="2" charset="2"/>
              <a:buChar char="Ø"/>
            </a:pPr>
            <a:endParaRPr lang="en-US" sz="1800" dirty="0" smtClean="0">
              <a:latin typeface="+mn-lt"/>
            </a:endParaRPr>
          </a:p>
          <a:p>
            <a:pPr marL="285750" indent="-285750">
              <a:buFont typeface="Wingdings" panose="05000000000000000000" pitchFamily="2" charset="2"/>
              <a:buChar char="Ø"/>
            </a:pPr>
            <a:r>
              <a:rPr lang="en-US" sz="1800" dirty="0" smtClean="0">
                <a:solidFill>
                  <a:srgbClr val="374151"/>
                </a:solidFill>
                <a:latin typeface="+mn-lt"/>
              </a:rPr>
              <a:t>Place </a:t>
            </a:r>
            <a:r>
              <a:rPr lang="en-US" sz="1800" dirty="0">
                <a:solidFill>
                  <a:srgbClr val="374151"/>
                </a:solidFill>
                <a:latin typeface="+mn-lt"/>
              </a:rPr>
              <a:t>a clustered column chart on the </a:t>
            </a:r>
            <a:r>
              <a:rPr lang="en-US" sz="1800" dirty="0" smtClean="0">
                <a:solidFill>
                  <a:srgbClr val="374151"/>
                </a:solidFill>
                <a:latin typeface="+mn-lt"/>
              </a:rPr>
              <a:t>page. Set </a:t>
            </a:r>
            <a:r>
              <a:rPr lang="en-US" sz="1800" dirty="0">
                <a:solidFill>
                  <a:srgbClr val="374151"/>
                </a:solidFill>
                <a:latin typeface="+mn-lt"/>
              </a:rPr>
              <a:t>the X-axis to "Year" and the Y-axis to the vaccination metrics (e.g., "people_vaccinated," "people_fully_vaccinated," etc</a:t>
            </a:r>
            <a:r>
              <a:rPr lang="en-US" sz="1800" dirty="0" smtClean="0">
                <a:solidFill>
                  <a:srgbClr val="374151"/>
                </a:solidFill>
                <a:latin typeface="+mn-lt"/>
              </a:rPr>
              <a:t>.).</a:t>
            </a:r>
          </a:p>
          <a:p>
            <a:endParaRPr lang="en-US" sz="1800" dirty="0">
              <a:solidFill>
                <a:srgbClr val="374151"/>
              </a:solidFill>
              <a:latin typeface="+mn-lt"/>
            </a:endParaRPr>
          </a:p>
          <a:p>
            <a:pPr marL="285750" indent="-285750">
              <a:buFont typeface="Wingdings" panose="05000000000000000000" pitchFamily="2" charset="2"/>
              <a:buChar char="Ø"/>
            </a:pPr>
            <a:r>
              <a:rPr lang="en-US" sz="1800" dirty="0">
                <a:solidFill>
                  <a:srgbClr val="374151"/>
                </a:solidFill>
                <a:latin typeface="+mn-lt"/>
              </a:rPr>
              <a:t>Power BI will automatically sum the values for each year.</a:t>
            </a:r>
          </a:p>
          <a:p>
            <a:pPr marL="285750" indent="-285750">
              <a:buFont typeface="Wingdings" panose="05000000000000000000" pitchFamily="2" charset="2"/>
              <a:buChar char="Ø"/>
            </a:pPr>
            <a:endParaRPr lang="en-US" sz="1600" i="1" dirty="0">
              <a:latin typeface="+mn-lt"/>
            </a:endParaRPr>
          </a:p>
        </p:txBody>
      </p:sp>
      <p:sp>
        <p:nvSpPr>
          <p:cNvPr id="7" name="Title 1"/>
          <p:cNvSpPr txBox="1">
            <a:spLocks/>
          </p:cNvSpPr>
          <p:nvPr/>
        </p:nvSpPr>
        <p:spPr>
          <a:xfrm>
            <a:off x="773885" y="3467181"/>
            <a:ext cx="5148743" cy="28434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smtClean="0"/>
              <a:t>Line Chart: </a:t>
            </a:r>
            <a:r>
              <a:rPr lang="en-US" sz="1600" dirty="0">
                <a:latin typeface="+mn-lt"/>
              </a:rPr>
              <a:t>Create a new page in your report dedicated to the line </a:t>
            </a:r>
            <a:r>
              <a:rPr lang="en-US" sz="1600" dirty="0" smtClean="0">
                <a:latin typeface="+mn-lt"/>
              </a:rPr>
              <a:t>chart,</a:t>
            </a:r>
            <a:r>
              <a:rPr lang="en-US" sz="1600" dirty="0">
                <a:latin typeface="+mn-lt"/>
              </a:rPr>
              <a:t> Place a line chart on the </a:t>
            </a:r>
            <a:r>
              <a:rPr lang="en-US" sz="1600" dirty="0" smtClean="0">
                <a:latin typeface="+mn-lt"/>
              </a:rPr>
              <a:t>page. Set </a:t>
            </a:r>
            <a:r>
              <a:rPr lang="en-US" sz="1600" dirty="0">
                <a:latin typeface="+mn-lt"/>
              </a:rPr>
              <a:t>the Y-axis to "Country" and the X-axis to </a:t>
            </a:r>
            <a:r>
              <a:rPr lang="en-US" sz="1600" dirty="0" smtClean="0">
                <a:latin typeface="+mn-lt"/>
              </a:rPr>
              <a:t>"Date." Drag </a:t>
            </a:r>
            <a:r>
              <a:rPr lang="en-US" sz="1600" dirty="0">
                <a:latin typeface="+mn-lt"/>
              </a:rPr>
              <a:t>the "Daily Vaccinations" field into the "Values" section of the </a:t>
            </a:r>
            <a:r>
              <a:rPr lang="en-US" sz="1600" dirty="0" smtClean="0">
                <a:latin typeface="+mn-lt"/>
              </a:rPr>
              <a:t>visual. Power </a:t>
            </a:r>
            <a:r>
              <a:rPr lang="en-US" sz="1600" dirty="0">
                <a:latin typeface="+mn-lt"/>
              </a:rPr>
              <a:t>BI will automatically sum the daily vaccination counts for each country.</a:t>
            </a:r>
          </a:p>
          <a:p>
            <a:pPr marL="285750" indent="-285750">
              <a:buFont typeface="Wingdings" panose="05000000000000000000" pitchFamily="2" charset="2"/>
              <a:buChar char="Ø"/>
            </a:pPr>
            <a:r>
              <a:rPr lang="en-US" sz="1600" dirty="0">
                <a:latin typeface="+mn-lt"/>
              </a:rPr>
              <a:t>Add a second line to the chart for daily vaccinations per </a:t>
            </a:r>
            <a:r>
              <a:rPr lang="en-US" sz="1600" dirty="0" smtClean="0">
                <a:latin typeface="+mn-lt"/>
              </a:rPr>
              <a:t>million. Create </a:t>
            </a:r>
            <a:r>
              <a:rPr lang="en-US" sz="1600" dirty="0">
                <a:latin typeface="+mn-lt"/>
              </a:rPr>
              <a:t>a calculated column for "Daily Vaccinations Per Million" by dividing "Daily Vaccinations" by </a:t>
            </a:r>
            <a:r>
              <a:rPr lang="en-US" sz="1600" dirty="0" smtClean="0">
                <a:latin typeface="+mn-lt"/>
              </a:rPr>
              <a:t>1,000,000.Drag </a:t>
            </a:r>
            <a:r>
              <a:rPr lang="en-US" sz="1600" dirty="0">
                <a:latin typeface="+mn-lt"/>
              </a:rPr>
              <a:t>the "Daily Vaccinations Per Million" field into the "Values" </a:t>
            </a:r>
            <a:r>
              <a:rPr lang="en-US" sz="1600" dirty="0" smtClean="0">
                <a:latin typeface="+mn-lt"/>
              </a:rPr>
              <a:t>section. Power </a:t>
            </a:r>
            <a:r>
              <a:rPr lang="en-US" sz="1600" dirty="0">
                <a:latin typeface="+mn-lt"/>
              </a:rPr>
              <a:t>BI will automatically sum the calculated values for each country.</a:t>
            </a:r>
          </a:p>
          <a:p>
            <a:endParaRPr lang="en-US" sz="1600" dirty="0"/>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73885" y="915319"/>
            <a:ext cx="4522296" cy="2404078"/>
          </a:xfr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2628" y="957882"/>
            <a:ext cx="4937438" cy="2361515"/>
          </a:xfrm>
          <a:prstGeom prst="rect">
            <a:avLst/>
          </a:prstGeom>
        </p:spPr>
      </p:pic>
    </p:spTree>
    <p:extLst>
      <p:ext uri="{BB962C8B-B14F-4D97-AF65-F5344CB8AC3E}">
        <p14:creationId xmlns:p14="http://schemas.microsoft.com/office/powerpoint/2010/main" val="153996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397" y="319440"/>
            <a:ext cx="4999839" cy="3118235"/>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3906" y="324114"/>
            <a:ext cx="5167617" cy="3108886"/>
          </a:xfrm>
          <a:prstGeom prst="rect">
            <a:avLst/>
          </a:prstGeom>
        </p:spPr>
      </p:pic>
      <p:sp>
        <p:nvSpPr>
          <p:cNvPr id="13" name="Title 1"/>
          <p:cNvSpPr txBox="1">
            <a:spLocks/>
          </p:cNvSpPr>
          <p:nvPr/>
        </p:nvSpPr>
        <p:spPr>
          <a:xfrm>
            <a:off x="763397" y="3467181"/>
            <a:ext cx="5148743" cy="26316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smtClean="0"/>
              <a:t>Area Chart: </a:t>
            </a:r>
            <a:r>
              <a:rPr lang="en-US" sz="1600" dirty="0"/>
              <a:t>Create a new page in your report dedicated to the line </a:t>
            </a:r>
            <a:r>
              <a:rPr lang="en-US" sz="1600" dirty="0" smtClean="0"/>
              <a:t>chart,</a:t>
            </a:r>
            <a:r>
              <a:rPr lang="en-US" sz="1600" dirty="0"/>
              <a:t> Place a </a:t>
            </a:r>
            <a:r>
              <a:rPr lang="en-US" sz="1600" dirty="0" smtClean="0"/>
              <a:t>Area </a:t>
            </a:r>
            <a:r>
              <a:rPr lang="en-US" sz="1600" dirty="0"/>
              <a:t>chart on the </a:t>
            </a:r>
            <a:r>
              <a:rPr lang="en-US" sz="1600" dirty="0" smtClean="0"/>
              <a:t>page. Set </a:t>
            </a:r>
            <a:r>
              <a:rPr lang="en-US" sz="1600" dirty="0"/>
              <a:t>the Y-axis to </a:t>
            </a:r>
            <a:r>
              <a:rPr lang="en-US" sz="1600" dirty="0" smtClean="0"/>
              <a:t>“year" and “vaccines“, Drag </a:t>
            </a:r>
            <a:r>
              <a:rPr lang="en-US" sz="1600" dirty="0"/>
              <a:t>the </a:t>
            </a:r>
            <a:r>
              <a:rPr lang="en-US" sz="1600" dirty="0" smtClean="0"/>
              <a:t>“Total </a:t>
            </a:r>
            <a:r>
              <a:rPr lang="en-US" sz="1600" dirty="0"/>
              <a:t>Vaccinations" field into the "Values" section of the </a:t>
            </a:r>
            <a:r>
              <a:rPr lang="en-US" sz="1600" dirty="0" smtClean="0"/>
              <a:t>visual. Power </a:t>
            </a:r>
            <a:r>
              <a:rPr lang="en-US" sz="1600" dirty="0"/>
              <a:t>BI will automatically sum the Total</a:t>
            </a:r>
            <a:r>
              <a:rPr lang="en-US" sz="1600" dirty="0" smtClean="0"/>
              <a:t> </a:t>
            </a:r>
            <a:r>
              <a:rPr lang="en-US" sz="1600" dirty="0"/>
              <a:t>vaccination counts for each </a:t>
            </a:r>
            <a:r>
              <a:rPr lang="en-US" sz="1600" dirty="0" smtClean="0"/>
              <a:t>year.</a:t>
            </a:r>
            <a:endParaRPr lang="en-US" sz="1600" dirty="0"/>
          </a:p>
          <a:p>
            <a:pPr marL="285750" indent="-285750">
              <a:buFont typeface="Wingdings" panose="05000000000000000000" pitchFamily="2" charset="2"/>
              <a:buChar char="Ø"/>
            </a:pPr>
            <a:r>
              <a:rPr lang="en-US" sz="1600" dirty="0"/>
              <a:t>Add a second line to the chart for daily vaccinations per </a:t>
            </a:r>
            <a:r>
              <a:rPr lang="en-US" sz="1600" dirty="0" smtClean="0"/>
              <a:t>million. Create </a:t>
            </a:r>
            <a:r>
              <a:rPr lang="en-US" sz="1600" dirty="0"/>
              <a:t>a calculated column for </a:t>
            </a:r>
            <a:r>
              <a:rPr lang="en-US" sz="1600" dirty="0" smtClean="0"/>
              <a:t>"</a:t>
            </a:r>
            <a:r>
              <a:rPr lang="en-US" sz="1600" dirty="0"/>
              <a:t> Total</a:t>
            </a:r>
            <a:r>
              <a:rPr lang="en-US" sz="1600" dirty="0" smtClean="0"/>
              <a:t> </a:t>
            </a:r>
            <a:r>
              <a:rPr lang="en-US" sz="1600" dirty="0"/>
              <a:t>Vaccinations Per </a:t>
            </a:r>
            <a:r>
              <a:rPr lang="en-US" sz="1600" dirty="0" smtClean="0"/>
              <a:t>hundred" field </a:t>
            </a:r>
            <a:r>
              <a:rPr lang="en-US" sz="1600" dirty="0"/>
              <a:t>into the "Values" </a:t>
            </a:r>
            <a:r>
              <a:rPr lang="en-US" sz="1600" dirty="0" smtClean="0"/>
              <a:t>section. Power </a:t>
            </a:r>
            <a:r>
              <a:rPr lang="en-US" sz="1600" dirty="0"/>
              <a:t>BI will automatically sum the calculated values for each year</a:t>
            </a:r>
            <a:r>
              <a:rPr lang="en-US" sz="1600" dirty="0" smtClean="0"/>
              <a:t>.</a:t>
            </a:r>
            <a:endParaRPr lang="en-US" sz="1600" dirty="0"/>
          </a:p>
          <a:p>
            <a:endParaRPr lang="en-US" sz="1600" dirty="0"/>
          </a:p>
        </p:txBody>
      </p:sp>
      <p:sp>
        <p:nvSpPr>
          <p:cNvPr id="15" name="Title 1"/>
          <p:cNvSpPr txBox="1">
            <a:spLocks/>
          </p:cNvSpPr>
          <p:nvPr/>
        </p:nvSpPr>
        <p:spPr>
          <a:xfrm>
            <a:off x="5863906" y="3467181"/>
            <a:ext cx="5048073" cy="237155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a:t>slicing </a:t>
            </a:r>
            <a:r>
              <a:rPr lang="en-US" sz="1600" b="1" u="sng" dirty="0" smtClean="0"/>
              <a:t>: </a:t>
            </a:r>
            <a:r>
              <a:rPr lang="en-US" sz="1600" dirty="0" smtClean="0"/>
              <a:t>There are using iso_code to use a slicing part on the title method used for slicing settings,</a:t>
            </a:r>
          </a:p>
          <a:p>
            <a:pPr marL="285750" indent="-285750">
              <a:buFont typeface="Wingdings" panose="05000000000000000000" pitchFamily="2" charset="2"/>
              <a:buChar char="Ø"/>
            </a:pPr>
            <a:r>
              <a:rPr lang="en-US" sz="1600" b="1" u="sng" dirty="0"/>
              <a:t>multi-row </a:t>
            </a:r>
            <a:r>
              <a:rPr lang="en-US" sz="1600" b="1" u="sng" dirty="0" smtClean="0"/>
              <a:t>card: </a:t>
            </a:r>
            <a:r>
              <a:rPr lang="en-US" sz="1600" dirty="0" smtClean="0"/>
              <a:t>There are using a year, country source Name, source website, Vaccines will be used for multi-row card for the power bi.</a:t>
            </a:r>
          </a:p>
          <a:p>
            <a:pPr marL="285750" indent="-285750">
              <a:buFont typeface="Wingdings" panose="05000000000000000000" pitchFamily="2" charset="2"/>
              <a:buChar char="Ø"/>
            </a:pPr>
            <a:r>
              <a:rPr lang="en-US" sz="1600" b="1" u="sng" dirty="0" smtClean="0"/>
              <a:t>Gauge:</a:t>
            </a:r>
            <a:r>
              <a:rPr lang="en-US" sz="1600" dirty="0" smtClean="0"/>
              <a:t> There are using a gauge function on the people fully vaccinated in the power bi.</a:t>
            </a:r>
          </a:p>
          <a:p>
            <a:pPr marL="285750" indent="-285750">
              <a:buFont typeface="Wingdings" panose="05000000000000000000" pitchFamily="2" charset="2"/>
              <a:buChar char="Ø"/>
            </a:pPr>
            <a:r>
              <a:rPr lang="en-US" sz="1600" dirty="0" smtClean="0"/>
              <a:t>There are using all method of automatically used for sum function on the gauge.</a:t>
            </a:r>
          </a:p>
          <a:p>
            <a:pPr marL="285750" indent="-285750">
              <a:buFont typeface="Wingdings" panose="05000000000000000000" pitchFamily="2" charset="2"/>
              <a:buChar char="Ø"/>
            </a:pPr>
            <a:endParaRPr lang="en-US" sz="1600" dirty="0" smtClean="0"/>
          </a:p>
        </p:txBody>
      </p:sp>
    </p:spTree>
    <p:extLst>
      <p:ext uri="{BB962C8B-B14F-4D97-AF65-F5344CB8AC3E}">
        <p14:creationId xmlns:p14="http://schemas.microsoft.com/office/powerpoint/2010/main" val="2536423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858" y="327617"/>
            <a:ext cx="4781652" cy="267486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8212" y="327618"/>
            <a:ext cx="5583370" cy="2674865"/>
          </a:xfrm>
          <a:prstGeom prst="rect">
            <a:avLst/>
          </a:prstGeom>
        </p:spPr>
      </p:pic>
      <p:sp>
        <p:nvSpPr>
          <p:cNvPr id="7" name="Title 1"/>
          <p:cNvSpPr txBox="1">
            <a:spLocks/>
          </p:cNvSpPr>
          <p:nvPr/>
        </p:nvSpPr>
        <p:spPr>
          <a:xfrm>
            <a:off x="5708212" y="3021789"/>
            <a:ext cx="5303499" cy="27953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smtClean="0"/>
              <a:t>Area </a:t>
            </a:r>
            <a:r>
              <a:rPr lang="en-US" sz="1600" b="1" u="sng" dirty="0"/>
              <a:t>chart : </a:t>
            </a:r>
            <a:r>
              <a:rPr lang="en-US" sz="1600" dirty="0" smtClean="0"/>
              <a:t>There are using source name on the y-axis function on the Area chart.</a:t>
            </a:r>
          </a:p>
          <a:p>
            <a:pPr marL="285750" indent="-285750">
              <a:buFont typeface="Wingdings" panose="05000000000000000000" pitchFamily="2" charset="2"/>
              <a:buChar char="Ø"/>
            </a:pPr>
            <a:r>
              <a:rPr lang="en-US" sz="1600" dirty="0" smtClean="0"/>
              <a:t>And there are used in the four functions in the </a:t>
            </a:r>
            <a:r>
              <a:rPr lang="en-US" sz="1600" dirty="0"/>
              <a:t>people_fully_vaccinated, </a:t>
            </a:r>
            <a:r>
              <a:rPr lang="en-US" sz="1600" dirty="0" smtClean="0"/>
              <a:t>people_fully_vaccinated_per_hundred,</a:t>
            </a:r>
            <a:r>
              <a:rPr lang="en-US" sz="1600" dirty="0"/>
              <a:t> </a:t>
            </a:r>
            <a:r>
              <a:rPr lang="en-US" sz="1600" dirty="0" smtClean="0"/>
              <a:t>people_vaccinated,</a:t>
            </a:r>
            <a:r>
              <a:rPr lang="en-US" sz="1600" dirty="0"/>
              <a:t> </a:t>
            </a:r>
            <a:r>
              <a:rPr lang="en-US" sz="1600" dirty="0" smtClean="0"/>
              <a:t>people_vaccinated_per_hundred. This is automatelly used on sum functions in Area Chart.</a:t>
            </a:r>
          </a:p>
          <a:p>
            <a:pPr marL="285750" indent="-285750">
              <a:buFont typeface="Wingdings" panose="05000000000000000000" pitchFamily="2" charset="2"/>
              <a:buChar char="Ø"/>
            </a:pPr>
            <a:r>
              <a:rPr lang="en-US" sz="1600" b="1" u="sng" dirty="0" smtClean="0"/>
              <a:t>Slicing:</a:t>
            </a:r>
            <a:r>
              <a:rPr lang="en-US" sz="1600" dirty="0" smtClean="0"/>
              <a:t> There are used in  year function in the slicing method to used on the Year.</a:t>
            </a:r>
          </a:p>
          <a:p>
            <a:pPr marL="285750" indent="-285750">
              <a:buFont typeface="Wingdings" panose="05000000000000000000" pitchFamily="2" charset="2"/>
              <a:buChar char="Ø"/>
            </a:pPr>
            <a:endParaRPr lang="en-US" sz="1600" dirty="0" smtClean="0"/>
          </a:p>
          <a:p>
            <a:pPr marL="285750" indent="-285750">
              <a:buFont typeface="Wingdings" panose="05000000000000000000" pitchFamily="2" charset="2"/>
              <a:buChar char="Ø"/>
            </a:pPr>
            <a:endParaRPr lang="en-US" sz="1600" dirty="0"/>
          </a:p>
        </p:txBody>
      </p:sp>
      <p:sp>
        <p:nvSpPr>
          <p:cNvPr id="8" name="Title 1"/>
          <p:cNvSpPr txBox="1">
            <a:spLocks/>
          </p:cNvSpPr>
          <p:nvPr/>
        </p:nvSpPr>
        <p:spPr>
          <a:xfrm>
            <a:off x="620858" y="3021790"/>
            <a:ext cx="5148743" cy="26316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Wingdings" panose="05000000000000000000" pitchFamily="2" charset="2"/>
              <a:buChar char="Ø"/>
            </a:pPr>
            <a:r>
              <a:rPr lang="en-US" sz="1600" b="1" u="sng" dirty="0"/>
              <a:t>line and clustered column chart</a:t>
            </a:r>
            <a:r>
              <a:rPr lang="en-US" sz="1600" b="1" u="sng" dirty="0" smtClean="0"/>
              <a:t>:</a:t>
            </a:r>
            <a:r>
              <a:rPr lang="en-US" sz="1600" dirty="0" smtClean="0"/>
              <a:t> There are using iso_code on the x-axis in the methods or doing part on the analysis a data for he total_vaccinations_per_hundred is automatelly selected a sum function on the on part and using a design for dotted method for the round of the functions.</a:t>
            </a:r>
          </a:p>
          <a:p>
            <a:pPr marL="285750" indent="-285750">
              <a:buFont typeface="Wingdings" panose="05000000000000000000" pitchFamily="2" charset="2"/>
              <a:buChar char="Ø"/>
            </a:pPr>
            <a:r>
              <a:rPr lang="en-US" sz="1600" dirty="0" smtClean="0"/>
              <a:t>There are using the Total Vaccinations on the using right side in the worked on the part of  members will be used on the this method function to used line part on the settings </a:t>
            </a:r>
            <a:endParaRPr lang="en-US" sz="1600" dirty="0"/>
          </a:p>
        </p:txBody>
      </p:sp>
    </p:spTree>
    <p:extLst>
      <p:ext uri="{BB962C8B-B14F-4D97-AF65-F5344CB8AC3E}">
        <p14:creationId xmlns:p14="http://schemas.microsoft.com/office/powerpoint/2010/main" val="959356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865" y="981512"/>
            <a:ext cx="10515600" cy="3330429"/>
          </a:xfrm>
          <a:prstGeom prst="rect">
            <a:avLst/>
          </a:prstGeom>
        </p:spPr>
      </p:pic>
      <p:sp>
        <p:nvSpPr>
          <p:cNvPr id="3" name="Title 1"/>
          <p:cNvSpPr>
            <a:spLocks noGrp="1"/>
          </p:cNvSpPr>
          <p:nvPr>
            <p:ph type="title"/>
          </p:nvPr>
        </p:nvSpPr>
        <p:spPr>
          <a:xfrm>
            <a:off x="633865" y="356737"/>
            <a:ext cx="10515600" cy="624775"/>
          </a:xfrm>
        </p:spPr>
        <p:txBody>
          <a:bodyPr>
            <a:normAutofit fontScale="90000"/>
          </a:bodyPr>
          <a:lstStyle/>
          <a:p>
            <a:r>
              <a:rPr lang="en-US" b="1" dirty="0" smtClean="0"/>
              <a:t>Recommendations</a:t>
            </a:r>
            <a:r>
              <a:rPr lang="en-US" b="1" i="1" dirty="0" smtClean="0"/>
              <a:t>:</a:t>
            </a:r>
            <a:endParaRPr lang="en-US" b="1" i="1" dirty="0"/>
          </a:p>
        </p:txBody>
      </p:sp>
      <p:sp>
        <p:nvSpPr>
          <p:cNvPr id="2" name="Rectangle 1"/>
          <p:cNvSpPr/>
          <p:nvPr/>
        </p:nvSpPr>
        <p:spPr>
          <a:xfrm>
            <a:off x="575142" y="4469126"/>
            <a:ext cx="10574323" cy="2031325"/>
          </a:xfrm>
          <a:prstGeom prst="rect">
            <a:avLst/>
          </a:prstGeom>
        </p:spPr>
        <p:txBody>
          <a:bodyPr wrap="square">
            <a:spAutoFit/>
          </a:bodyPr>
          <a:lstStyle/>
          <a:p>
            <a:pPr marL="285750" indent="-285750">
              <a:buFont typeface="Wingdings" panose="05000000000000000000" pitchFamily="2" charset="2"/>
              <a:buChar char="Ø"/>
            </a:pPr>
            <a:r>
              <a:rPr lang="en-US" b="1" i="1" u="sng" dirty="0" smtClean="0"/>
              <a:t>Line Chart: </a:t>
            </a:r>
            <a:r>
              <a:rPr lang="en-US" dirty="0" smtClean="0"/>
              <a:t>There are using line chart method in the power bi, The method function will be used a people fully vaccinated, people vaccinated, people vaccinated per hundred its all is automate that are used to sum method.</a:t>
            </a:r>
          </a:p>
          <a:p>
            <a:pPr marL="285750" indent="-285750">
              <a:buFont typeface="Wingdings" panose="05000000000000000000" pitchFamily="2" charset="2"/>
              <a:buChar char="Ø"/>
            </a:pPr>
            <a:r>
              <a:rPr lang="en-US" dirty="0" smtClean="0"/>
              <a:t>There  are using the y – axis functions is used a vaccines</a:t>
            </a:r>
          </a:p>
          <a:p>
            <a:pPr marL="285750" indent="-285750">
              <a:buFont typeface="Wingdings" panose="05000000000000000000" pitchFamily="2" charset="2"/>
              <a:buChar char="Ø"/>
            </a:pPr>
            <a:r>
              <a:rPr lang="en-US" dirty="0" smtClean="0"/>
              <a:t>And, There are using country for KPI’s formatted or LEGEND formatted there will be get automatelly get it that function on power Bi.</a:t>
            </a:r>
          </a:p>
          <a:p>
            <a:endParaRPr lang="en-US" dirty="0"/>
          </a:p>
        </p:txBody>
      </p:sp>
    </p:spTree>
    <p:extLst>
      <p:ext uri="{BB962C8B-B14F-4D97-AF65-F5344CB8AC3E}">
        <p14:creationId xmlns:p14="http://schemas.microsoft.com/office/powerpoint/2010/main" val="2974544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2194"/>
          </a:xfrm>
        </p:spPr>
        <p:txBody>
          <a:bodyPr>
            <a:normAutofit/>
          </a:bodyPr>
          <a:lstStyle/>
          <a:p>
            <a:r>
              <a:rPr lang="en-US" b="1" dirty="0" smtClean="0"/>
              <a:t>Conclusions:</a:t>
            </a:r>
            <a:endParaRPr lang="en-US" b="1" dirty="0"/>
          </a:p>
        </p:txBody>
      </p:sp>
      <p:sp>
        <p:nvSpPr>
          <p:cNvPr id="3" name="Content Placeholder 2"/>
          <p:cNvSpPr>
            <a:spLocks noGrp="1"/>
          </p:cNvSpPr>
          <p:nvPr>
            <p:ph idx="1"/>
          </p:nvPr>
        </p:nvSpPr>
        <p:spPr>
          <a:xfrm>
            <a:off x="838200" y="1361873"/>
            <a:ext cx="10515600" cy="4513634"/>
          </a:xfrm>
        </p:spPr>
        <p:txBody>
          <a:bodyPr>
            <a:normAutofit fontScale="92500" lnSpcReduction="10000"/>
          </a:bodyPr>
          <a:lstStyle/>
          <a:p>
            <a:pPr>
              <a:buFont typeface="Wingdings" panose="05000000000000000000" pitchFamily="2" charset="2"/>
              <a:buChar char="Ø"/>
            </a:pPr>
            <a:r>
              <a:rPr lang="en-US" b="1" i="1" u="sng" dirty="0"/>
              <a:t>Overall Vaccination Trend:</a:t>
            </a:r>
            <a:r>
              <a:rPr lang="en-US" dirty="0"/>
              <a:t> The analysis of COVID-19 vaccinations reveals a significant and dynamic trend over the observed period. The vaccinations started slowly and gradually gained momentum, with a steep increase observed during certain months</a:t>
            </a:r>
            <a:r>
              <a:rPr lang="en-US" dirty="0" smtClean="0"/>
              <a:t>.</a:t>
            </a:r>
          </a:p>
          <a:p>
            <a:pPr>
              <a:buFont typeface="Wingdings" panose="05000000000000000000" pitchFamily="2" charset="2"/>
              <a:buChar char="Ø"/>
            </a:pPr>
            <a:r>
              <a:rPr lang="en-US" b="1" i="1" u="sng" dirty="0"/>
              <a:t>Vaccine Type Distribution:</a:t>
            </a:r>
            <a:r>
              <a:rPr lang="en-US" dirty="0"/>
              <a:t> The distribution of vaccine types used across different countries has been diverse. Some regions predominantly adopted one vaccine type, while others opted for a combination of vaccines. This highlights the flexibility and adaptability of vaccination strategies.</a:t>
            </a:r>
          </a:p>
          <a:p>
            <a:pPr>
              <a:buFont typeface="Wingdings" panose="05000000000000000000" pitchFamily="2" charset="2"/>
              <a:buChar char="Ø"/>
            </a:pPr>
            <a:r>
              <a:rPr lang="en-US" b="1" i="1" u="sng" dirty="0"/>
              <a:t>Vaccination Disparities: </a:t>
            </a:r>
            <a:r>
              <a:rPr lang="en-US" dirty="0"/>
              <a:t>Despite the progress made, the analysis also highlights disparities in vaccination rates among countries. Certain regions faced challenges in accessing vaccines, leading to uneven rates of immunization. These disparities emphasize the need for equitable vaccine distribution.</a:t>
            </a:r>
          </a:p>
          <a:p>
            <a:endParaRPr lang="en-US" dirty="0"/>
          </a:p>
        </p:txBody>
      </p:sp>
    </p:spTree>
    <p:extLst>
      <p:ext uri="{BB962C8B-B14F-4D97-AF65-F5344CB8AC3E}">
        <p14:creationId xmlns:p14="http://schemas.microsoft.com/office/powerpoint/2010/main" val="2555953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1568</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Söhne</vt:lpstr>
      <vt:lpstr>Wingdings</vt:lpstr>
      <vt:lpstr>Office Theme</vt:lpstr>
      <vt:lpstr>COVID-19 Vaccinations Trend Analysis</vt:lpstr>
      <vt:lpstr>AIM:</vt:lpstr>
      <vt:lpstr>Introduction:</vt:lpstr>
      <vt:lpstr>Problem statement:</vt:lpstr>
      <vt:lpstr>Methodology:</vt:lpstr>
      <vt:lpstr>Analysis:</vt:lpstr>
      <vt:lpstr>PowerPoint Presentation</vt:lpstr>
      <vt:lpstr>Insights:</vt:lpstr>
      <vt:lpstr>PowerPoint Presentation</vt:lpstr>
      <vt:lpstr>PowerPoint Presentation</vt:lpstr>
      <vt:lpstr>Recommendations: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Vaccinations Trend Analysis</dc:title>
  <dc:creator>Sakthi</dc:creator>
  <cp:lastModifiedBy>Sakthi</cp:lastModifiedBy>
  <cp:revision>28</cp:revision>
  <dcterms:created xsi:type="dcterms:W3CDTF">2023-08-08T11:01:10Z</dcterms:created>
  <dcterms:modified xsi:type="dcterms:W3CDTF">2023-08-09T09:35:17Z</dcterms:modified>
</cp:coreProperties>
</file>